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2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0" y="274320"/>
            <a:ext cx="45720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38000" i="1" dirty="0">
                <a:solidFill>
                  <a:srgbClr val="C8512B">
                    <a:alpha val="1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α</a:t>
            </a:r>
            <a:endParaRPr lang="en-US" sz="3800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4A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TEORÍA DE LA DECISIÓN  ·  TRABAJO FINAL  · 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10058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spc="-200" kern="0" dirty="0">
                <a:solidFill>
                  <a:srgbClr val="FAF5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Toros,</a:t>
            </a:r>
            <a:endParaRPr lang="en-US" sz="7200" dirty="0"/>
          </a:p>
          <a:p>
            <a:pPr indent="0" marL="0">
              <a:buNone/>
            </a:pPr>
            <a:r>
              <a:rPr lang="en-US" sz="7200" spc="-200" kern="0" dirty="0">
                <a:solidFill>
                  <a:srgbClr val="FAF5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incertidumbre</a:t>
            </a:r>
            <a:endParaRPr lang="en-US" sz="7200" dirty="0"/>
          </a:p>
          <a:p>
            <a:pPr indent="0" marL="0">
              <a:buNone/>
            </a:pPr>
            <a:r>
              <a:rPr lang="en-US" sz="7200" spc="-200" kern="0" dirty="0">
                <a:solidFill>
                  <a:srgbClr val="FAF5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 </a:t>
            </a:r>
            <a:pPr indent="0" marL="0">
              <a:buNone/>
            </a:pPr>
            <a:r>
              <a:rPr lang="en-US" sz="7200" i="1" spc="-200" kern="0" dirty="0">
                <a:solidFill>
                  <a:srgbClr val="D4A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decisiones.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640080" y="452628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0B4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 aplicación real de seis criterios de decisión bajo incertidumbre en empresas ganaderas turcas.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5303520"/>
            <a:ext cx="10881360" cy="0"/>
          </a:xfrm>
          <a:prstGeom prst="line">
            <a:avLst/>
          </a:prstGeom>
          <a:noFill/>
          <a:ln w="6350">
            <a:solidFill>
              <a:srgbClr val="D4A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54864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4A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PRESENTADO POR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5760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AF5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Sebastián Guerrero Arias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6172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9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Estudiante · Teoría de la Decisión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0" y="54864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4A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ARTÍCULO ANALIZADO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0" y="5760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AF5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Şahin · Miran · Yıldırım · Önenç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0" y="61722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9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 Animal &amp; Veterinary Advances, 7(10): 1305-1309, 2008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503920" y="54864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4A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TÍTULO ORIGINAL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503920" y="57607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AF5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Profit Maximization of Cattle Fattening Breed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503920" y="62636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89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Characteristics of Producers: An Application of Game Theory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A3D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— Contexto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12648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4A3D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İzmir, Turquía  ·  1999–2007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11064240" cy="0"/>
          </a:xfrm>
          <a:prstGeom prst="line">
            <a:avLst/>
          </a:prstGeom>
          <a:noFill/>
          <a:ln w="6350">
            <a:solidFill>
              <a:srgbClr val="1A120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058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spc="-200" kern="0" dirty="0">
                <a:solidFill>
                  <a:srgbClr val="1A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problema del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spc="-200" kern="0" dirty="0">
                <a:solidFill>
                  <a:srgbClr val="1A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ganadero turco.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548640" y="28346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4A3D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productor debe decidir </a:t>
            </a:r>
            <a:pPr indent="0" marL="0">
              <a:buNone/>
            </a:pPr>
            <a:r>
              <a:rPr lang="en-US" sz="2000" b="1" i="1" dirty="0">
                <a:solidFill>
                  <a:srgbClr val="1A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qué raza de toro comprar</a:t>
            </a:r>
            <a:pPr indent="0" marL="0">
              <a:buNone/>
            </a:pPr>
            <a:r>
              <a:rPr lang="en-US" sz="2000" i="1" dirty="0">
                <a:solidFill>
                  <a:srgbClr val="4A3D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para engordar y vender — pero los precios del mercado son inciertos.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4114800"/>
            <a:ext cx="3520440" cy="0"/>
          </a:xfrm>
          <a:prstGeom prst="line">
            <a:avLst/>
          </a:prstGeom>
          <a:noFill/>
          <a:ln w="25400">
            <a:solidFill>
              <a:srgbClr val="C851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2519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C85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548640" y="493776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Riesgo de producción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8640" y="5486400"/>
            <a:ext cx="3520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4A3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animal puede no engordar como se espera, o enfermarse. Los costos de alimentación fluctúan.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43400" y="4114800"/>
            <a:ext cx="3520440" cy="0"/>
          </a:xfrm>
          <a:prstGeom prst="line">
            <a:avLst/>
          </a:prstGeom>
          <a:noFill/>
          <a:ln w="25400">
            <a:solidFill>
              <a:srgbClr val="C851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43400" y="42519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C85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343400" y="493776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Riesgo de mercado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343400" y="5486400"/>
            <a:ext cx="3520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4A3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precio de la carne al momento de vender es desconocido. Los productores no controlan este factor.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38160" y="4114800"/>
            <a:ext cx="3520440" cy="0"/>
          </a:xfrm>
          <a:prstGeom prst="line">
            <a:avLst/>
          </a:prstGeom>
          <a:noFill/>
          <a:ln w="25400">
            <a:solidFill>
              <a:srgbClr val="C851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38160" y="42519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C85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8138160" y="493776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Tres razas posibles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138160" y="5486400"/>
            <a:ext cx="3520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4A3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Holstein, Limuzin o Piedmont. ¿Cuál maximiza la ganancia bajo incertidumbre?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A3D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— Alternativas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12648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4A3D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A1 · A2 · A3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11064240" cy="0"/>
          </a:xfrm>
          <a:prstGeom prst="line">
            <a:avLst/>
          </a:prstGeom>
          <a:noFill/>
          <a:ln w="6350">
            <a:solidFill>
              <a:srgbClr val="1A120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058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spc="-150" kern="0" dirty="0">
                <a:solidFill>
                  <a:srgbClr val="1A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Tres razas, una decisión.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A3D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estudio compara las tres razas disponibles para el ganadero turco. Una de ellas pierde bajo cualquier criterio.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520440" cy="3566160"/>
          </a:xfrm>
          <a:prstGeom prst="rect">
            <a:avLst/>
          </a:prstGeom>
          <a:solidFill>
            <a:srgbClr val="EAE0C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6236208"/>
            <a:ext cx="3520440" cy="73152"/>
          </a:xfrm>
          <a:prstGeom prst="rect">
            <a:avLst/>
          </a:prstGeom>
          <a:solidFill>
            <a:srgbClr val="8B361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0" y="2971800"/>
            <a:ext cx="1188720" cy="274320"/>
          </a:xfrm>
          <a:prstGeom prst="rect">
            <a:avLst/>
          </a:prstGeom>
          <a:solidFill>
            <a:srgbClr val="8B361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0" y="29718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AF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DESCARTADA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" y="30175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85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" y="338328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i="1" dirty="0">
                <a:solidFill>
                  <a:srgbClr val="1A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Holstein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822960" y="42976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3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Origen: Países Bajos / Alemania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480060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3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clásica blanca y negra. Más conocida por su producción lechera. En este contexto turco resulta dominada: tiene el peor pago en ambos escenarios.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43400" y="2743200"/>
            <a:ext cx="3520440" cy="3566160"/>
          </a:xfrm>
          <a:prstGeom prst="rect">
            <a:avLst/>
          </a:prstGeom>
          <a:solidFill>
            <a:srgbClr val="FAF5E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43400" y="6236208"/>
            <a:ext cx="3520440" cy="73152"/>
          </a:xfrm>
          <a:prstGeom prst="rect">
            <a:avLst/>
          </a:prstGeom>
          <a:solidFill>
            <a:srgbClr val="1A120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30175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85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A2 · ALTERNATIVA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17720" y="338328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i="1" dirty="0">
                <a:solidFill>
                  <a:srgbClr val="1A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Limuzin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4617720" y="42976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3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Cruce Limousin × Holstein (Francia)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17720" y="480060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3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Famosa por su musculatura intermedia. Alto potencial de ganancia si las condiciones son favorables, pero también la mayor caída si el mercado se deteriora.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138160" y="2743200"/>
            <a:ext cx="3520440" cy="3566160"/>
          </a:xfrm>
          <a:prstGeom prst="rect">
            <a:avLst/>
          </a:prstGeom>
          <a:solidFill>
            <a:srgbClr val="FAF5E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38160" y="6236208"/>
            <a:ext cx="3520440" cy="73152"/>
          </a:xfrm>
          <a:prstGeom prst="rect">
            <a:avLst/>
          </a:prstGeom>
          <a:solidFill>
            <a:srgbClr val="1A120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12480" y="30175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85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A3 · ALTERNATIVA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412480" y="338328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i="1" dirty="0">
                <a:solidFill>
                  <a:srgbClr val="1A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Piedmont</a:t>
            </a:r>
            <a:endParaRPr lang="en-US" sz="4200" dirty="0"/>
          </a:p>
        </p:txBody>
      </p:sp>
      <p:sp>
        <p:nvSpPr>
          <p:cNvPr id="25" name="Text 23"/>
          <p:cNvSpPr/>
          <p:nvPr/>
        </p:nvSpPr>
        <p:spPr>
          <a:xfrm>
            <a:off x="8412480" y="42976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3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Cruce Piedmontese × Holstein (Italia)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412480" y="480060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3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Raza italiana de doble musculatura. Ofrece el piso más alto cuando todo sale mal — el favorito del productor cauto.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A3D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— Metodología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12648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4A3D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Datos empíricos reales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11064240" cy="0"/>
          </a:xfrm>
          <a:prstGeom prst="line">
            <a:avLst/>
          </a:prstGeom>
          <a:noFill/>
          <a:ln w="6350">
            <a:solidFill>
              <a:srgbClr val="1A120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058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spc="-150" kern="0" dirty="0">
                <a:solidFill>
                  <a:srgbClr val="1A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Cómo construyeron los datos.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A3D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son números inventados: </a:t>
            </a:r>
            <a:pPr indent="0" marL="0">
              <a:buNone/>
            </a:pPr>
            <a:r>
              <a:rPr lang="en-US" sz="1600" b="1" i="1" dirty="0">
                <a:solidFill>
                  <a:srgbClr val="1A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 toros reales engordados</a:t>
            </a:r>
            <a:pPr indent="0" marL="0">
              <a:buNone/>
            </a:pPr>
            <a:r>
              <a:rPr lang="en-US" sz="1600" i="1" dirty="0">
                <a:solidFill>
                  <a:srgbClr val="4A3D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en un instituto agrícola turco bajo condiciones controladas.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2651760" cy="0"/>
          </a:xfrm>
          <a:prstGeom prst="line">
            <a:avLst/>
          </a:prstGeom>
          <a:noFill/>
          <a:ln w="19050">
            <a:solidFill>
              <a:srgbClr val="1A120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83464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rgbClr val="8B36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548640" y="39319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spc="100" kern="0" dirty="0">
                <a:solidFill>
                  <a:srgbClr val="4A3D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Toros del experimento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spc="100" kern="0" dirty="0">
                <a:solidFill>
                  <a:srgbClr val="4A3D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(7 por raza)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2697480"/>
            <a:ext cx="2651760" cy="0"/>
          </a:xfrm>
          <a:prstGeom prst="line">
            <a:avLst/>
          </a:prstGeom>
          <a:noFill/>
          <a:ln w="19050">
            <a:solidFill>
              <a:srgbClr val="1A120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283464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rgbClr val="8B36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280</a:t>
            </a:r>
            <a:endParaRPr lang="en-US" sz="6400" dirty="0"/>
          </a:p>
        </p:txBody>
      </p:sp>
      <p:sp>
        <p:nvSpPr>
          <p:cNvPr id="12" name="Text 10"/>
          <p:cNvSpPr/>
          <p:nvPr/>
        </p:nvSpPr>
        <p:spPr>
          <a:xfrm>
            <a:off x="3383280" y="39319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spc="100" kern="0" dirty="0">
                <a:solidFill>
                  <a:srgbClr val="4A3D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Días de engorde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spc="100" kern="0" dirty="0">
                <a:solidFill>
                  <a:srgbClr val="4A3D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(10 meses × 28 días)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2697480"/>
            <a:ext cx="2651760" cy="0"/>
          </a:xfrm>
          <a:prstGeom prst="line">
            <a:avLst/>
          </a:prstGeom>
          <a:noFill/>
          <a:ln w="19050">
            <a:solidFill>
              <a:srgbClr val="1A120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283464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rgbClr val="8B36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5°</a:t>
            </a:r>
            <a:endParaRPr lang="en-US" sz="6400" dirty="0"/>
          </a:p>
        </p:txBody>
      </p:sp>
      <p:sp>
        <p:nvSpPr>
          <p:cNvPr id="15" name="Text 13"/>
          <p:cNvSpPr/>
          <p:nvPr/>
        </p:nvSpPr>
        <p:spPr>
          <a:xfrm>
            <a:off x="6217920" y="39319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spc="100" kern="0" dirty="0">
                <a:solidFill>
                  <a:srgbClr val="4A3D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 óptimo de venta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spc="100" kern="0" dirty="0">
                <a:solidFill>
                  <a:srgbClr val="4A3D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(ganancia máxima)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052560" y="2697480"/>
            <a:ext cx="2651760" cy="0"/>
          </a:xfrm>
          <a:prstGeom prst="line">
            <a:avLst/>
          </a:prstGeom>
          <a:noFill/>
          <a:ln w="19050">
            <a:solidFill>
              <a:srgbClr val="1A120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52560" y="283464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rgbClr val="8B36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2007</a:t>
            </a:r>
            <a:endParaRPr lang="en-US" sz="6400" dirty="0"/>
          </a:p>
        </p:txBody>
      </p:sp>
      <p:sp>
        <p:nvSpPr>
          <p:cNvPr id="18" name="Text 16"/>
          <p:cNvSpPr/>
          <p:nvPr/>
        </p:nvSpPr>
        <p:spPr>
          <a:xfrm>
            <a:off x="9052560" y="39319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spc="100" kern="0" dirty="0">
                <a:solidFill>
                  <a:srgbClr val="4A3D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Precios actualizados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spc="100" kern="0" dirty="0">
                <a:solidFill>
                  <a:srgbClr val="4A3D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(Meat &amp; Fish Assoc.)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754880"/>
            <a:ext cx="2651760" cy="1737360"/>
          </a:xfrm>
          <a:prstGeom prst="rect">
            <a:avLst/>
          </a:prstGeom>
          <a:solidFill>
            <a:srgbClr val="FAF5E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4636008"/>
            <a:ext cx="777240" cy="256032"/>
          </a:xfrm>
          <a:prstGeom prst="rect">
            <a:avLst/>
          </a:prstGeom>
          <a:solidFill>
            <a:srgbClr val="1A120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63600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D4A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PASO 01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31520" y="49834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A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Experimento controlado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31520" y="55321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4A3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toros en el Aegean Agricultural Research Institute, İzmir. Registro mensual de peso y consumo de alimento.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83280" y="4754880"/>
            <a:ext cx="2651760" cy="1737360"/>
          </a:xfrm>
          <a:prstGeom prst="rect">
            <a:avLst/>
          </a:prstGeom>
          <a:solidFill>
            <a:srgbClr val="FAF5E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66160" y="4636008"/>
            <a:ext cx="777240" cy="256032"/>
          </a:xfrm>
          <a:prstGeom prst="rect">
            <a:avLst/>
          </a:prstGeom>
          <a:solidFill>
            <a:srgbClr val="1A120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66160" y="463600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D4A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PASO 02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566160" y="49834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A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Cálculo de ganancia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566160" y="55321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4A3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Ganancia neta = Valor bruto (precio × peso) − Costos. Calculado mes a mes.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17920" y="4754880"/>
            <a:ext cx="2651760" cy="1737360"/>
          </a:xfrm>
          <a:prstGeom prst="rect">
            <a:avLst/>
          </a:prstGeom>
          <a:solidFill>
            <a:srgbClr val="FAF5E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0" y="4636008"/>
            <a:ext cx="777240" cy="256032"/>
          </a:xfrm>
          <a:prstGeom prst="rect">
            <a:avLst/>
          </a:prstGeom>
          <a:solidFill>
            <a:srgbClr val="1A120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463600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D4A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PASO 03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400800" y="49834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A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Identificar mes óptimo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400800" y="55321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4A3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Comparando los 10 meses, el quinto resultó el más rentable para todas las razas.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9052560" y="4754880"/>
            <a:ext cx="2651760" cy="1737360"/>
          </a:xfrm>
          <a:prstGeom prst="rect">
            <a:avLst/>
          </a:prstGeom>
          <a:solidFill>
            <a:srgbClr val="FAF5E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235440" y="4636008"/>
            <a:ext cx="777240" cy="256032"/>
          </a:xfrm>
          <a:prstGeom prst="rect">
            <a:avLst/>
          </a:prstGeom>
          <a:solidFill>
            <a:srgbClr val="1A120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235440" y="463600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D4A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PASO 04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9235440" y="49834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A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Definir escenarios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235440" y="55321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4A3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estados de la naturaleza: B1 (buenas) y B2 (malas). Aplicación de seis criterios.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A3D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— Matriz de pagos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12648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4A3D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USD por cabeza  ·  Mes 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11064240" cy="0"/>
          </a:xfrm>
          <a:prstGeom prst="line">
            <a:avLst/>
          </a:prstGeom>
          <a:noFill/>
          <a:ln w="6350">
            <a:solidFill>
              <a:srgbClr val="1A120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0584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spc="-150" kern="0" dirty="0">
                <a:solidFill>
                  <a:srgbClr val="1A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matriz central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spc="-150" kern="0" dirty="0">
                <a:solidFill>
                  <a:srgbClr val="1A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 estudio.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2606040"/>
            <a:ext cx="5943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3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la decisión se apoya en estos seis números. Tres razas (filas), dos escenarios de mercado (columnas) y un valor de ganancia neta en dólares por cabeza.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4114800"/>
            <a:ext cx="5943600" cy="1828800"/>
          </a:xfrm>
          <a:prstGeom prst="rect">
            <a:avLst/>
          </a:prstGeom>
          <a:solidFill>
            <a:srgbClr val="FAF5E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4114800"/>
            <a:ext cx="54864" cy="1828800"/>
          </a:xfrm>
          <a:prstGeom prst="rect">
            <a:avLst/>
          </a:prstGeom>
          <a:solidFill>
            <a:srgbClr val="C851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251960"/>
            <a:ext cx="5486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"While the minimum net profit represented the improvement in production and marketing conditions, the average net profit was the reflection of deterioration..."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5349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A3D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 ŞAHİN ET AL. 2008, P.6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0" y="1280160"/>
          <a:ext cx="46634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463040"/>
                <a:gridCol w="14630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spc="300" kern="0" dirty="0">
                          <a:solidFill>
                            <a:srgbClr val="4A3D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RAZA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spc="300" kern="0" dirty="0">
                          <a:solidFill>
                            <a:srgbClr val="4A3D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B1 · BUENAS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spc="300" kern="0" dirty="0">
                          <a:solidFill>
                            <a:srgbClr val="4A3D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B2 · MALAS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i="1" dirty="0">
                          <a:solidFill>
                            <a:srgbClr val="1A1208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A1 · Holstein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20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$368.20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20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$200.71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i="1" dirty="0">
                          <a:solidFill>
                            <a:srgbClr val="1A1208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A2 · Limuzin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AF5E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$588.33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51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20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$272.58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i="1" dirty="0">
                          <a:solidFill>
                            <a:srgbClr val="1A1208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A3 · Piedmont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20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$449.47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8B361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$298.77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9C9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6949440" y="4114800"/>
            <a:ext cx="868680" cy="274320"/>
          </a:xfrm>
          <a:prstGeom prst="rect">
            <a:avLst/>
          </a:prstGeom>
          <a:solidFill>
            <a:srgbClr val="C851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49440" y="41148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AF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&lt; 0.05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955280" y="4114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3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Diferencias entre razas son estadísticamente significativas (ANOVA).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949440" y="45720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5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Mejor pago global (Limuzin · B1)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949440" y="48463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36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Mejor pago en escenario malo (Piedmont · B2)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A3D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— Criterio 1 de 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12648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4A3D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Maximax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11064240" cy="0"/>
          </a:xfrm>
          <a:prstGeom prst="line">
            <a:avLst/>
          </a:prstGeom>
          <a:noFill/>
          <a:ln w="6350">
            <a:solidFill>
              <a:srgbClr val="1A120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0584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0" i="1" spc="-300" kern="0" dirty="0">
                <a:solidFill>
                  <a:srgbClr val="C85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300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spc="-100" kern="0" dirty="0">
                <a:solidFill>
                  <a:srgbClr val="1A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Maximax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548640" y="32004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4A3D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productor optimista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3840480"/>
            <a:ext cx="5029200" cy="1280160"/>
          </a:xfrm>
          <a:prstGeom prst="rect">
            <a:avLst/>
          </a:prstGeom>
          <a:solidFill>
            <a:srgbClr val="FAF5E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3840480"/>
            <a:ext cx="54864" cy="1280160"/>
          </a:xfrm>
          <a:prstGeom prst="rect">
            <a:avLst/>
          </a:prstGeom>
          <a:solidFill>
            <a:srgbClr val="C851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9776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B36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PERSONALIDAD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" y="425196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"Voy a apostar al mejor escenario posible. Si todo sale bien, quiero la mayor ganancia."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5303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4A3D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FÓRMULA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5623560"/>
            <a:ext cx="5029200" cy="548640"/>
          </a:xfrm>
          <a:prstGeom prst="rect">
            <a:avLst/>
          </a:prstGeom>
          <a:solidFill>
            <a:srgbClr val="E8DCC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562356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 ( max de cada fila 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26480" y="1005840"/>
            <a:ext cx="5486400" cy="1965960"/>
          </a:xfrm>
          <a:prstGeom prst="rect">
            <a:avLst/>
          </a:prstGeom>
          <a:solidFill>
            <a:srgbClr val="FAF5E9"/>
          </a:solidFill>
          <a:ln w="9525">
            <a:solidFill>
              <a:srgbClr val="D4C8A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11430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4A3D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MEJOR PAGO DE CADA RAZA (COLUMNA B1)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00800" y="1554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3D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Holstein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966960" y="1554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$368.20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0" y="1920240"/>
            <a:ext cx="4937760" cy="0"/>
          </a:xfrm>
          <a:prstGeom prst="line">
            <a:avLst/>
          </a:prstGeom>
          <a:noFill/>
          <a:ln w="6350">
            <a:solidFill>
              <a:srgbClr val="D4C8AC"/>
            </a:solidFill>
            <a:prstDash val="dot"/>
          </a:ln>
        </p:spPr>
      </p:sp>
      <p:sp>
        <p:nvSpPr>
          <p:cNvPr id="20" name="Text 18"/>
          <p:cNvSpPr/>
          <p:nvPr/>
        </p:nvSpPr>
        <p:spPr>
          <a:xfrm>
            <a:off x="6400800" y="1965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5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Limuzin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966960" y="19659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85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$588.33  ←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0" y="2331720"/>
            <a:ext cx="4937760" cy="0"/>
          </a:xfrm>
          <a:prstGeom prst="line">
            <a:avLst/>
          </a:prstGeom>
          <a:noFill/>
          <a:ln w="6350">
            <a:solidFill>
              <a:srgbClr val="D4C8AC"/>
            </a:solidFill>
            <a:prstDash val="dot"/>
          </a:ln>
        </p:spPr>
      </p:sp>
      <p:sp>
        <p:nvSpPr>
          <p:cNvPr id="23" name="Text 21"/>
          <p:cNvSpPr/>
          <p:nvPr/>
        </p:nvSpPr>
        <p:spPr>
          <a:xfrm>
            <a:off x="6400800" y="2377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3D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Piedmont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966960" y="2377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$449.47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26480" y="3337560"/>
            <a:ext cx="5486400" cy="1188720"/>
          </a:xfrm>
          <a:prstGeom prst="rect">
            <a:avLst/>
          </a:prstGeom>
          <a:solidFill>
            <a:srgbClr val="1A120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34747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4A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DECISIÓN ÓPTIMA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00800" y="37490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D4A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Limuzin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9418320" y="35661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AF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$588.33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9418320" y="4114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D4A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USD / CABEZA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A3D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— Criterio 2 de 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12648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4A3D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Wald (maximin)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11064240" cy="0"/>
          </a:xfrm>
          <a:prstGeom prst="line">
            <a:avLst/>
          </a:prstGeom>
          <a:noFill/>
          <a:ln w="6350">
            <a:solidFill>
              <a:srgbClr val="1A120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0584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0" i="1" spc="-300" kern="0" dirty="0">
                <a:solidFill>
                  <a:srgbClr val="C85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300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spc="-100" kern="0" dirty="0">
                <a:solidFill>
                  <a:srgbClr val="1A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Wald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548640" y="32004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4A3D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productor pesimista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3840480"/>
            <a:ext cx="5029200" cy="1280160"/>
          </a:xfrm>
          <a:prstGeom prst="rect">
            <a:avLst/>
          </a:prstGeom>
          <a:solidFill>
            <a:srgbClr val="FAF5E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3840480"/>
            <a:ext cx="54864" cy="1280160"/>
          </a:xfrm>
          <a:prstGeom prst="rect">
            <a:avLst/>
          </a:prstGeom>
          <a:solidFill>
            <a:srgbClr val="C851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9776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B36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PERSONALIDAD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" y="425196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"Asumo que todo va a salir mal. Me preparo para el peor caso y elijo lo menos malo."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5303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4A3D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FÓRMULA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5623560"/>
            <a:ext cx="5029200" cy="548640"/>
          </a:xfrm>
          <a:prstGeom prst="rect">
            <a:avLst/>
          </a:prstGeom>
          <a:solidFill>
            <a:srgbClr val="E8DCC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562356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 ( min de cada fila 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26480" y="1005840"/>
            <a:ext cx="5486400" cy="1965960"/>
          </a:xfrm>
          <a:prstGeom prst="rect">
            <a:avLst/>
          </a:prstGeom>
          <a:solidFill>
            <a:srgbClr val="FAF5E9"/>
          </a:solidFill>
          <a:ln w="9525">
            <a:solidFill>
              <a:srgbClr val="D4C8A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11430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4A3D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PEOR PAGO DE CADA RAZA (COLUMNA B2)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00800" y="1554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3D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Holstein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966960" y="1554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$200.71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0" y="1920240"/>
            <a:ext cx="4937760" cy="0"/>
          </a:xfrm>
          <a:prstGeom prst="line">
            <a:avLst/>
          </a:prstGeom>
          <a:noFill/>
          <a:ln w="6350">
            <a:solidFill>
              <a:srgbClr val="D4C8AC"/>
            </a:solidFill>
            <a:prstDash val="dot"/>
          </a:ln>
        </p:spPr>
      </p:sp>
      <p:sp>
        <p:nvSpPr>
          <p:cNvPr id="20" name="Text 18"/>
          <p:cNvSpPr/>
          <p:nvPr/>
        </p:nvSpPr>
        <p:spPr>
          <a:xfrm>
            <a:off x="6400800" y="1965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3D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Limuzin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966960" y="19659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$272.58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0" y="2331720"/>
            <a:ext cx="4937760" cy="0"/>
          </a:xfrm>
          <a:prstGeom prst="line">
            <a:avLst/>
          </a:prstGeom>
          <a:noFill/>
          <a:ln w="6350">
            <a:solidFill>
              <a:srgbClr val="D4C8AC"/>
            </a:solidFill>
            <a:prstDash val="dot"/>
          </a:ln>
        </p:spPr>
      </p:sp>
      <p:sp>
        <p:nvSpPr>
          <p:cNvPr id="23" name="Text 21"/>
          <p:cNvSpPr/>
          <p:nvPr/>
        </p:nvSpPr>
        <p:spPr>
          <a:xfrm>
            <a:off x="6400800" y="2377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5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Piedmont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966960" y="2377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85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$298.77  ←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26480" y="3337560"/>
            <a:ext cx="5486400" cy="1188720"/>
          </a:xfrm>
          <a:prstGeom prst="rect">
            <a:avLst/>
          </a:prstGeom>
          <a:solidFill>
            <a:srgbClr val="1A120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34747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4A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DECISIÓN ÓPTIMA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00800" y="37490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D4A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Piedmont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9418320" y="35661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AF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$298.77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9418320" y="4114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D4A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GARANTIZADO MÍN.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A3D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— Criterio 3 de 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12648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4A3D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Savage · minimax regret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11064240" cy="0"/>
          </a:xfrm>
          <a:prstGeom prst="line">
            <a:avLst/>
          </a:prstGeom>
          <a:noFill/>
          <a:ln w="6350">
            <a:solidFill>
              <a:srgbClr val="1A120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0584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0" i="1" spc="-300" kern="0" dirty="0">
                <a:solidFill>
                  <a:srgbClr val="C85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spc="-100" kern="0" dirty="0">
                <a:solidFill>
                  <a:srgbClr val="1A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Savage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548640" y="32004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4A3D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que odia arrepentirse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3840480"/>
            <a:ext cx="5029200" cy="1280160"/>
          </a:xfrm>
          <a:prstGeom prst="rect">
            <a:avLst/>
          </a:prstGeom>
          <a:solidFill>
            <a:srgbClr val="FAF5E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3840480"/>
            <a:ext cx="54864" cy="1280160"/>
          </a:xfrm>
          <a:prstGeom prst="rect">
            <a:avLst/>
          </a:prstGeom>
          <a:solidFill>
            <a:srgbClr val="C851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9776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B36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PERSONALIDAD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" y="425196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"No quiero mirar atrás y decir: 'debí haber comprado la otra raza'. Minimizo el arrepentimiento máximo."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5303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4A3D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CONCEPTO CLAVE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5623560"/>
            <a:ext cx="5029200" cy="777240"/>
          </a:xfrm>
          <a:prstGeom prst="rect">
            <a:avLst/>
          </a:prstGeom>
          <a:solidFill>
            <a:srgbClr val="E8DCC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562356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arrepentimiento es la diferencia entre lo que podías haber ganado y lo que ganaste. Equivale al costo de oportunidad.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1005840"/>
            <a:ext cx="5486400" cy="3200400"/>
          </a:xfrm>
          <a:prstGeom prst="rect">
            <a:avLst/>
          </a:prstGeom>
          <a:solidFill>
            <a:srgbClr val="FAF5E9"/>
          </a:solidFill>
          <a:ln w="9525">
            <a:solidFill>
              <a:srgbClr val="D4C8A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11430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4A3D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MATRIZ DE ARREPENTIMIENTO (MEJOR DE COLUMNA − VALOR)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00800" y="1554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3D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Holstein · B1: 588.33 − 368.20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966960" y="1554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$220.13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0" y="1920240"/>
            <a:ext cx="4937760" cy="0"/>
          </a:xfrm>
          <a:prstGeom prst="line">
            <a:avLst/>
          </a:prstGeom>
          <a:noFill/>
          <a:ln w="6350">
            <a:solidFill>
              <a:srgbClr val="D4C8AC"/>
            </a:solidFill>
            <a:prstDash val="dot"/>
          </a:ln>
        </p:spPr>
      </p:sp>
      <p:sp>
        <p:nvSpPr>
          <p:cNvPr id="20" name="Text 18"/>
          <p:cNvSpPr/>
          <p:nvPr/>
        </p:nvSpPr>
        <p:spPr>
          <a:xfrm>
            <a:off x="6400800" y="1965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3D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Holstein · B2: 298.77 − 200.71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966960" y="19659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$98.06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0" y="2331720"/>
            <a:ext cx="4937760" cy="0"/>
          </a:xfrm>
          <a:prstGeom prst="line">
            <a:avLst/>
          </a:prstGeom>
          <a:noFill/>
          <a:ln w="6350">
            <a:solidFill>
              <a:srgbClr val="D4C8AC"/>
            </a:solidFill>
            <a:prstDash val="dot"/>
          </a:ln>
        </p:spPr>
      </p:sp>
      <p:sp>
        <p:nvSpPr>
          <p:cNvPr id="23" name="Text 21"/>
          <p:cNvSpPr/>
          <p:nvPr/>
        </p:nvSpPr>
        <p:spPr>
          <a:xfrm>
            <a:off x="6400800" y="2377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3D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Limuzin · B1: 588.33 − 588.33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966960" y="2377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$0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0" y="2743200"/>
            <a:ext cx="4937760" cy="0"/>
          </a:xfrm>
          <a:prstGeom prst="line">
            <a:avLst/>
          </a:prstGeom>
          <a:noFill/>
          <a:ln w="6350">
            <a:solidFill>
              <a:srgbClr val="D4C8AC"/>
            </a:solidFill>
            <a:prstDash val="dot"/>
          </a:ln>
        </p:spPr>
      </p:sp>
      <p:sp>
        <p:nvSpPr>
          <p:cNvPr id="26" name="Text 24"/>
          <p:cNvSpPr/>
          <p:nvPr/>
        </p:nvSpPr>
        <p:spPr>
          <a:xfrm>
            <a:off x="6400800" y="2788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5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Limuzin · B2: 298.77 − 272.58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966960" y="27889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85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$26.19  ←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0" y="3154680"/>
            <a:ext cx="4937760" cy="0"/>
          </a:xfrm>
          <a:prstGeom prst="line">
            <a:avLst/>
          </a:prstGeom>
          <a:noFill/>
          <a:ln w="6350">
            <a:solidFill>
              <a:srgbClr val="D4C8AC"/>
            </a:solidFill>
            <a:prstDash val="dot"/>
          </a:ln>
        </p:spPr>
      </p:sp>
      <p:sp>
        <p:nvSpPr>
          <p:cNvPr id="29" name="Text 27"/>
          <p:cNvSpPr/>
          <p:nvPr/>
        </p:nvSpPr>
        <p:spPr>
          <a:xfrm>
            <a:off x="6400800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3D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Piedmont · B1: 588.33 − 449.47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966960" y="32004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$138.86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400800" y="3566160"/>
            <a:ext cx="4937760" cy="0"/>
          </a:xfrm>
          <a:prstGeom prst="line">
            <a:avLst/>
          </a:prstGeom>
          <a:noFill/>
          <a:ln w="6350">
            <a:solidFill>
              <a:srgbClr val="D4C8AC"/>
            </a:solidFill>
            <a:prstDash val="dot"/>
          </a:ln>
        </p:spPr>
      </p:sp>
      <p:sp>
        <p:nvSpPr>
          <p:cNvPr id="32" name="Text 30"/>
          <p:cNvSpPr/>
          <p:nvPr/>
        </p:nvSpPr>
        <p:spPr>
          <a:xfrm>
            <a:off x="6400800" y="3611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3D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Piedmont · B2: 298.77 − 298.77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966960" y="36118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$0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126480" y="4572000"/>
            <a:ext cx="5486400" cy="1188720"/>
          </a:xfrm>
          <a:prstGeom prst="rect">
            <a:avLst/>
          </a:prstGeom>
          <a:solidFill>
            <a:srgbClr val="1A120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0" y="47091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4A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DECISIÓN: MIN(MAX REGRET)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400800" y="49834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D4A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Limuzin</a:t>
            </a:r>
            <a:endParaRPr lang="en-US" sz="3600" dirty="0"/>
          </a:p>
        </p:txBody>
      </p:sp>
      <p:sp>
        <p:nvSpPr>
          <p:cNvPr id="37" name="Text 35"/>
          <p:cNvSpPr/>
          <p:nvPr/>
        </p:nvSpPr>
        <p:spPr>
          <a:xfrm>
            <a:off x="9418320" y="48006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AF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$26.19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9418320" y="5349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D4A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REGRET MÁX. MÍNIMO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A3D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— Criterio 4 de 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12648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4A3D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Hurwicz  ·  α = 0.4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11064240" cy="0"/>
          </a:xfrm>
          <a:prstGeom prst="line">
            <a:avLst/>
          </a:prstGeom>
          <a:noFill/>
          <a:ln w="6350">
            <a:solidFill>
              <a:srgbClr val="1A120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0584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0" i="1" spc="-300" kern="0" dirty="0">
                <a:solidFill>
                  <a:srgbClr val="C85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spc="-100" kern="0" dirty="0">
                <a:solidFill>
                  <a:srgbClr val="1A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Hurwicz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548640" y="32004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4A3D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realista equilibrado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3840480"/>
            <a:ext cx="5029200" cy="1280160"/>
          </a:xfrm>
          <a:prstGeom prst="rect">
            <a:avLst/>
          </a:prstGeom>
          <a:solidFill>
            <a:srgbClr val="FAF5E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3840480"/>
            <a:ext cx="54864" cy="1280160"/>
          </a:xfrm>
          <a:prstGeom prst="rect">
            <a:avLst/>
          </a:prstGeom>
          <a:solidFill>
            <a:srgbClr val="C851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9776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B36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PERSONALIDAD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" y="425196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"Ni todo va a salir bien, ni todo va a salir mal. Pondero ambos extremos según mi nivel de optimismo."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5303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4A3D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FÓRMULA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5623560"/>
            <a:ext cx="5029200" cy="548640"/>
          </a:xfrm>
          <a:prstGeom prst="rect">
            <a:avLst/>
          </a:prstGeom>
          <a:solidFill>
            <a:srgbClr val="E8DCC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562356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 = α(mejor) + (1−α)(peor)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26480" y="1005840"/>
            <a:ext cx="5486400" cy="2788920"/>
          </a:xfrm>
          <a:prstGeom prst="rect">
            <a:avLst/>
          </a:prstGeom>
          <a:solidFill>
            <a:srgbClr val="FAF5E9"/>
          </a:solidFill>
          <a:ln w="9525">
            <a:solidFill>
              <a:srgbClr val="D4C8A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11430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4A3D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CÁLCULO H = 0.4(MEJOR) + 0.6(PEOR)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00800" y="1554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3D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Holstein: 0.4(368.20) + 0.6(200.71)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966960" y="1554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$267.71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0" y="1920240"/>
            <a:ext cx="4937760" cy="0"/>
          </a:xfrm>
          <a:prstGeom prst="line">
            <a:avLst/>
          </a:prstGeom>
          <a:noFill/>
          <a:ln w="6350">
            <a:solidFill>
              <a:srgbClr val="D4C8AC"/>
            </a:solidFill>
            <a:prstDash val="dot"/>
          </a:ln>
        </p:spPr>
      </p:sp>
      <p:sp>
        <p:nvSpPr>
          <p:cNvPr id="20" name="Text 18"/>
          <p:cNvSpPr/>
          <p:nvPr/>
        </p:nvSpPr>
        <p:spPr>
          <a:xfrm>
            <a:off x="6400800" y="1965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5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Limuzin: 0.4(588.33) + 0.6(272.58)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966960" y="19659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85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$398.88  ←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0" y="2331720"/>
            <a:ext cx="4937760" cy="0"/>
          </a:xfrm>
          <a:prstGeom prst="line">
            <a:avLst/>
          </a:prstGeom>
          <a:noFill/>
          <a:ln w="6350">
            <a:solidFill>
              <a:srgbClr val="D4C8AC"/>
            </a:solidFill>
            <a:prstDash val="dot"/>
          </a:ln>
        </p:spPr>
      </p:sp>
      <p:sp>
        <p:nvSpPr>
          <p:cNvPr id="23" name="Text 21"/>
          <p:cNvSpPr/>
          <p:nvPr/>
        </p:nvSpPr>
        <p:spPr>
          <a:xfrm>
            <a:off x="6400800" y="2377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3D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Piedmont: 0.4(449.47) + 0.6(298.77)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966960" y="2377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$359.05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0" y="2743200"/>
            <a:ext cx="4937760" cy="0"/>
          </a:xfrm>
          <a:prstGeom prst="line">
            <a:avLst/>
          </a:prstGeom>
          <a:noFill/>
          <a:ln w="6350">
            <a:solidFill>
              <a:srgbClr val="D4C8AC"/>
            </a:solidFill>
            <a:prstDash val="dot"/>
          </a:ln>
        </p:spPr>
      </p:sp>
      <p:sp>
        <p:nvSpPr>
          <p:cNvPr id="26" name="Text 24"/>
          <p:cNvSpPr/>
          <p:nvPr/>
        </p:nvSpPr>
        <p:spPr>
          <a:xfrm>
            <a:off x="6400800" y="2788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3D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Umbral crítico: si α &gt; 0.16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966960" y="27889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Limuzin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0" y="3154680"/>
            <a:ext cx="4937760" cy="0"/>
          </a:xfrm>
          <a:prstGeom prst="line">
            <a:avLst/>
          </a:prstGeom>
          <a:noFill/>
          <a:ln w="6350">
            <a:solidFill>
              <a:srgbClr val="D4C8AC"/>
            </a:solidFill>
            <a:prstDash val="dot"/>
          </a:ln>
        </p:spPr>
      </p:sp>
      <p:sp>
        <p:nvSpPr>
          <p:cNvPr id="29" name="Text 27"/>
          <p:cNvSpPr/>
          <p:nvPr/>
        </p:nvSpPr>
        <p:spPr>
          <a:xfrm>
            <a:off x="6400800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3D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Umbral crítico: si α &lt; 0.16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966960" y="32004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Piedmont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126480" y="4160520"/>
            <a:ext cx="5486400" cy="1188720"/>
          </a:xfrm>
          <a:prstGeom prst="rect">
            <a:avLst/>
          </a:prstGeom>
          <a:solidFill>
            <a:srgbClr val="1A120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0" y="42976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4A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DECISIÓN ÓPTIMA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400800" y="45720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D4A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Limuzin</a:t>
            </a:r>
            <a:endParaRPr lang="en-US" sz="3600" dirty="0"/>
          </a:p>
        </p:txBody>
      </p:sp>
      <p:sp>
        <p:nvSpPr>
          <p:cNvPr id="34" name="Text 32"/>
          <p:cNvSpPr/>
          <p:nvPr/>
        </p:nvSpPr>
        <p:spPr>
          <a:xfrm>
            <a:off x="9418320" y="43891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AF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$398.88</a:t>
            </a:r>
            <a:endParaRPr lang="en-US" sz="2800" dirty="0"/>
          </a:p>
        </p:txBody>
      </p:sp>
      <p:sp>
        <p:nvSpPr>
          <p:cNvPr id="35" name="Text 33"/>
          <p:cNvSpPr/>
          <p:nvPr/>
        </p:nvSpPr>
        <p:spPr>
          <a:xfrm>
            <a:off x="9418320" y="49377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D4A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VALOR HURWICZ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A3D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— Criterio 5 de 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12648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4A3D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Utility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11064240" cy="0"/>
          </a:xfrm>
          <a:prstGeom prst="line">
            <a:avLst/>
          </a:prstGeom>
          <a:noFill/>
          <a:ln w="6350">
            <a:solidFill>
              <a:srgbClr val="1A120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0584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0" i="1" spc="-300" kern="0" dirty="0">
                <a:solidFill>
                  <a:srgbClr val="C85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300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spc="-100" kern="0" dirty="0">
                <a:solidFill>
                  <a:srgbClr val="1A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Utilidad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548640" y="32004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4A3D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averso al riesgo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3840480"/>
            <a:ext cx="5029200" cy="1280160"/>
          </a:xfrm>
          <a:prstGeom prst="rect">
            <a:avLst/>
          </a:prstGeom>
          <a:solidFill>
            <a:srgbClr val="FAF5E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3840480"/>
            <a:ext cx="54864" cy="1280160"/>
          </a:xfrm>
          <a:prstGeom prst="rect">
            <a:avLst/>
          </a:prstGeom>
          <a:solidFill>
            <a:srgbClr val="C851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9776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B36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PERSONALIDAD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" y="425196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"No me inclino mucho al riesgo. Mido cada raza por su ganancia sobre el piso absoluto."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5303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4A3D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PROCEDIMIENTO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5623560"/>
            <a:ext cx="5029200" cy="777240"/>
          </a:xfrm>
          <a:prstGeom prst="rect">
            <a:avLst/>
          </a:prstGeom>
          <a:solidFill>
            <a:srgbClr val="E8DCC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562356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Normalizar cada columna restando su mínimo. Luego aplicar minimax sobre la matriz de utilidades resultante.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1005840"/>
            <a:ext cx="5486400" cy="3200400"/>
          </a:xfrm>
          <a:prstGeom prst="rect">
            <a:avLst/>
          </a:prstGeom>
          <a:solidFill>
            <a:srgbClr val="FAF5E9"/>
          </a:solidFill>
          <a:ln w="9525">
            <a:solidFill>
              <a:srgbClr val="D4C8A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11430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4A3D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MATRIZ DE UTILIDAD (CADA VALOR − MÍN. DE SU COLUMNA)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00800" y="1554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3D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Holstein · B1: 368.20 − 368.20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966960" y="1554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$0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0" y="1920240"/>
            <a:ext cx="4937760" cy="0"/>
          </a:xfrm>
          <a:prstGeom prst="line">
            <a:avLst/>
          </a:prstGeom>
          <a:noFill/>
          <a:ln w="6350">
            <a:solidFill>
              <a:srgbClr val="D4C8AC"/>
            </a:solidFill>
            <a:prstDash val="dot"/>
          </a:ln>
        </p:spPr>
      </p:sp>
      <p:sp>
        <p:nvSpPr>
          <p:cNvPr id="20" name="Text 18"/>
          <p:cNvSpPr/>
          <p:nvPr/>
        </p:nvSpPr>
        <p:spPr>
          <a:xfrm>
            <a:off x="6400800" y="1965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3D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Holstein · B2: 200.71 − 200.71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966960" y="19659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$0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0" y="2331720"/>
            <a:ext cx="4937760" cy="0"/>
          </a:xfrm>
          <a:prstGeom prst="line">
            <a:avLst/>
          </a:prstGeom>
          <a:noFill/>
          <a:ln w="6350">
            <a:solidFill>
              <a:srgbClr val="D4C8AC"/>
            </a:solidFill>
            <a:prstDash val="dot"/>
          </a:ln>
        </p:spPr>
      </p:sp>
      <p:sp>
        <p:nvSpPr>
          <p:cNvPr id="23" name="Text 21"/>
          <p:cNvSpPr/>
          <p:nvPr/>
        </p:nvSpPr>
        <p:spPr>
          <a:xfrm>
            <a:off x="6400800" y="2377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3D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Limuzin · B1: 588.33 − 368.20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966960" y="2377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$220.13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0" y="2743200"/>
            <a:ext cx="4937760" cy="0"/>
          </a:xfrm>
          <a:prstGeom prst="line">
            <a:avLst/>
          </a:prstGeom>
          <a:noFill/>
          <a:ln w="6350">
            <a:solidFill>
              <a:srgbClr val="D4C8AC"/>
            </a:solidFill>
            <a:prstDash val="dot"/>
          </a:ln>
        </p:spPr>
      </p:sp>
      <p:sp>
        <p:nvSpPr>
          <p:cNvPr id="26" name="Text 24"/>
          <p:cNvSpPr/>
          <p:nvPr/>
        </p:nvSpPr>
        <p:spPr>
          <a:xfrm>
            <a:off x="6400800" y="2788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3D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Limuzin · B2: 272.58 − 200.71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966960" y="27889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$71.87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0" y="3154680"/>
            <a:ext cx="4937760" cy="0"/>
          </a:xfrm>
          <a:prstGeom prst="line">
            <a:avLst/>
          </a:prstGeom>
          <a:noFill/>
          <a:ln w="6350">
            <a:solidFill>
              <a:srgbClr val="D4C8AC"/>
            </a:solidFill>
            <a:prstDash val="dot"/>
          </a:ln>
        </p:spPr>
      </p:sp>
      <p:sp>
        <p:nvSpPr>
          <p:cNvPr id="29" name="Text 27"/>
          <p:cNvSpPr/>
          <p:nvPr/>
        </p:nvSpPr>
        <p:spPr>
          <a:xfrm>
            <a:off x="6400800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5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Piedmont · B1: 449.47 − 368.20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966960" y="32004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85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$81.27  ←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400800" y="3566160"/>
            <a:ext cx="4937760" cy="0"/>
          </a:xfrm>
          <a:prstGeom prst="line">
            <a:avLst/>
          </a:prstGeom>
          <a:noFill/>
          <a:ln w="6350">
            <a:solidFill>
              <a:srgbClr val="D4C8AC"/>
            </a:solidFill>
            <a:prstDash val="dot"/>
          </a:ln>
        </p:spPr>
      </p:sp>
      <p:sp>
        <p:nvSpPr>
          <p:cNvPr id="32" name="Text 30"/>
          <p:cNvSpPr/>
          <p:nvPr/>
        </p:nvSpPr>
        <p:spPr>
          <a:xfrm>
            <a:off x="6400800" y="3611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3D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Piedmont · B2: 298.77 − 200.71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966960" y="36118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$98.06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126480" y="4572000"/>
            <a:ext cx="5486400" cy="1188720"/>
          </a:xfrm>
          <a:prstGeom prst="rect">
            <a:avLst/>
          </a:prstGeom>
          <a:solidFill>
            <a:srgbClr val="1A120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0" y="47091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4A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DECISIÓN ÓPTIMA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400800" y="49834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D4A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Piedmont</a:t>
            </a:r>
            <a:endParaRPr lang="en-US" sz="3600" dirty="0"/>
          </a:p>
        </p:txBody>
      </p:sp>
      <p:sp>
        <p:nvSpPr>
          <p:cNvPr id="37" name="Text 35"/>
          <p:cNvSpPr/>
          <p:nvPr/>
        </p:nvSpPr>
        <p:spPr>
          <a:xfrm>
            <a:off x="9418320" y="48006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AF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$81.27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9418320" y="5349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D4A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UTILIDAD MÍN. MAX.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A3D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— Criterio 6 de 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12648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4A3D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Laplace  ·  P = 0.5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11064240" cy="0"/>
          </a:xfrm>
          <a:prstGeom prst="line">
            <a:avLst/>
          </a:prstGeom>
          <a:noFill/>
          <a:ln w="6350">
            <a:solidFill>
              <a:srgbClr val="1A120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0584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0" i="1" spc="-300" kern="0" dirty="0">
                <a:solidFill>
                  <a:srgbClr val="C85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300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spc="-100" kern="0" dirty="0">
                <a:solidFill>
                  <a:srgbClr val="1A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Laplace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548640" y="32004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4A3D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prudente sin información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3840480"/>
            <a:ext cx="5029200" cy="1280160"/>
          </a:xfrm>
          <a:prstGeom prst="rect">
            <a:avLst/>
          </a:prstGeom>
          <a:solidFill>
            <a:srgbClr val="FAF5E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3840480"/>
            <a:ext cx="54864" cy="1280160"/>
          </a:xfrm>
          <a:prstGeom prst="rect">
            <a:avLst/>
          </a:prstGeom>
          <a:solidFill>
            <a:srgbClr val="C851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9776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B36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PERSONALIDAD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" y="425196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"No tengo información para preferir un escenario sobre otro. Los trato como equiprobables y elijo el mejor promedio."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5303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4A3D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PRINCIPIO DE RAZÓN INSUFICIENTE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5623560"/>
            <a:ext cx="5029200" cy="777240"/>
          </a:xfrm>
          <a:prstGeom prst="rect">
            <a:avLst/>
          </a:prstGeom>
          <a:solidFill>
            <a:srgbClr val="E8DCC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562356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Formulado por Pierre-Simon Laplace en 1812: si no tengo razones para distinguir entre escenarios, los asumo igualmente probables.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1005840"/>
            <a:ext cx="5486400" cy="1965960"/>
          </a:xfrm>
          <a:prstGeom prst="rect">
            <a:avLst/>
          </a:prstGeom>
          <a:solidFill>
            <a:srgbClr val="FAF5E9"/>
          </a:solidFill>
          <a:ln w="9525">
            <a:solidFill>
              <a:srgbClr val="D4C8A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11430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4A3D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PROMEDIO CON P(B1) = P(B2) = 0.5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00800" y="1554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3D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Holstein: 0.5(368.20) + 0.5(200.71)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966960" y="1554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$284.46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0" y="1920240"/>
            <a:ext cx="4937760" cy="0"/>
          </a:xfrm>
          <a:prstGeom prst="line">
            <a:avLst/>
          </a:prstGeom>
          <a:noFill/>
          <a:ln w="6350">
            <a:solidFill>
              <a:srgbClr val="D4C8AC"/>
            </a:solidFill>
            <a:prstDash val="dot"/>
          </a:ln>
        </p:spPr>
      </p:sp>
      <p:sp>
        <p:nvSpPr>
          <p:cNvPr id="20" name="Text 18"/>
          <p:cNvSpPr/>
          <p:nvPr/>
        </p:nvSpPr>
        <p:spPr>
          <a:xfrm>
            <a:off x="6400800" y="1965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5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Limuzin: 0.5(588.33) + 0.5(272.58)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966960" y="19659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85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$430.46  ←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0" y="2331720"/>
            <a:ext cx="4937760" cy="0"/>
          </a:xfrm>
          <a:prstGeom prst="line">
            <a:avLst/>
          </a:prstGeom>
          <a:noFill/>
          <a:ln w="6350">
            <a:solidFill>
              <a:srgbClr val="D4C8AC"/>
            </a:solidFill>
            <a:prstDash val="dot"/>
          </a:ln>
        </p:spPr>
      </p:sp>
      <p:sp>
        <p:nvSpPr>
          <p:cNvPr id="23" name="Text 21"/>
          <p:cNvSpPr/>
          <p:nvPr/>
        </p:nvSpPr>
        <p:spPr>
          <a:xfrm>
            <a:off x="6400800" y="2377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3D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Piedmont: 0.5(449.47) + 0.5(298.77)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966960" y="2377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$374.12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26480" y="3337560"/>
            <a:ext cx="5486400" cy="1188720"/>
          </a:xfrm>
          <a:prstGeom prst="rect">
            <a:avLst/>
          </a:prstGeom>
          <a:solidFill>
            <a:srgbClr val="1A120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34747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4A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DECISIÓN ÓPTIMA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00800" y="37490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D4A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Limuzin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9418320" y="35661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AF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$430.46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9418320" y="4114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D4A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VALOR ESPERADO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2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— Síntesis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12648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D4A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Resultados agregados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11064240" cy="0"/>
          </a:xfrm>
          <a:prstGeom prst="line">
            <a:avLst/>
          </a:prstGeom>
          <a:noFill/>
          <a:ln w="6350">
            <a:solidFill>
              <a:srgbClr val="D4A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spc="-200" kern="0" dirty="0">
                <a:solidFill>
                  <a:srgbClr val="FAF5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veredicto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spc="-200" kern="0" dirty="0">
                <a:solidFill>
                  <a:srgbClr val="FAF5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los </a:t>
            </a:r>
            <a:pPr indent="0" marL="0">
              <a:buNone/>
            </a:pPr>
            <a:r>
              <a:rPr lang="en-US" sz="5400" i="1" spc="-200" kern="0" dirty="0">
                <a:solidFill>
                  <a:srgbClr val="D4A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seis criterios.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4A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CRITERIO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566160" y="24688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4A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PERSONALIDAD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583680" y="24688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4A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RAZA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326880" y="24688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4A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VALOR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2834640"/>
            <a:ext cx="11247120" cy="0"/>
          </a:xfrm>
          <a:prstGeom prst="line">
            <a:avLst/>
          </a:prstGeom>
          <a:noFill/>
          <a:ln w="12700">
            <a:solidFill>
              <a:srgbClr val="D4A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834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AF5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Maximax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66160" y="28346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B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Optimista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0" y="28346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4A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Limuzin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326880" y="2834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$588.33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200400"/>
            <a:ext cx="11247120" cy="0"/>
          </a:xfrm>
          <a:prstGeom prst="line">
            <a:avLst/>
          </a:prstGeom>
          <a:noFill/>
          <a:ln w="6350">
            <a:solidFill>
              <a:srgbClr val="3A2F1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200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AF5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Wald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566160" y="32004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B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Pesimista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83680" y="3200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88C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Piedmont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326880" y="3200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$298.77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3566160"/>
            <a:ext cx="11247120" cy="0"/>
          </a:xfrm>
          <a:prstGeom prst="line">
            <a:avLst/>
          </a:prstGeom>
          <a:noFill/>
          <a:ln w="6350">
            <a:solidFill>
              <a:srgbClr val="3A2F1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566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AF5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Savage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566160" y="3566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B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Anti-arrepentimiento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83680" y="35661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4A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Limuzin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326880" y="3566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$26.19 regret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3931920"/>
            <a:ext cx="11247120" cy="0"/>
          </a:xfrm>
          <a:prstGeom prst="line">
            <a:avLst/>
          </a:prstGeom>
          <a:noFill/>
          <a:ln w="6350">
            <a:solidFill>
              <a:srgbClr val="3A2F1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3931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AF5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Hurwicz (α=0.4)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566160" y="39319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B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Equilibrado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583680" y="3931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4A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Limuzin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326880" y="3931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$398.88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4297680"/>
            <a:ext cx="11247120" cy="0"/>
          </a:xfrm>
          <a:prstGeom prst="line">
            <a:avLst/>
          </a:prstGeom>
          <a:noFill/>
          <a:ln w="6350">
            <a:solidFill>
              <a:srgbClr val="3A2F1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4297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AF5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Utilidad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566160" y="42976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B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Averso al riesgo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583680" y="42976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88C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Piedmont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326880" y="4297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$81.27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" y="4663440"/>
            <a:ext cx="11247120" cy="0"/>
          </a:xfrm>
          <a:prstGeom prst="line">
            <a:avLst/>
          </a:prstGeom>
          <a:noFill/>
          <a:ln w="6350">
            <a:solidFill>
              <a:srgbClr val="3A2F1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4663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AF5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Laplace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3566160" y="46634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B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Prudente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583680" y="46634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4A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Limuzin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9326880" y="46634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$430.46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48640" y="5029200"/>
            <a:ext cx="11247120" cy="0"/>
          </a:xfrm>
          <a:prstGeom prst="line">
            <a:avLst/>
          </a:prstGeom>
          <a:noFill/>
          <a:ln w="6350">
            <a:solidFill>
              <a:srgbClr val="3A2F1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48640" y="5303520"/>
            <a:ext cx="3611880" cy="0"/>
          </a:xfrm>
          <a:prstGeom prst="line">
            <a:avLst/>
          </a:prstGeom>
          <a:noFill/>
          <a:ln w="19050">
            <a:solidFill>
              <a:srgbClr val="D4A15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8640" y="5440680"/>
            <a:ext cx="18059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i="1" spc="-100" kern="0" dirty="0">
                <a:solidFill>
                  <a:srgbClr val="D4A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/ 6</a:t>
            </a:r>
            <a:endParaRPr lang="en-US" sz="4800" dirty="0"/>
          </a:p>
        </p:txBody>
      </p:sp>
      <p:sp>
        <p:nvSpPr>
          <p:cNvPr id="44" name="Text 42"/>
          <p:cNvSpPr/>
          <p:nvPr/>
        </p:nvSpPr>
        <p:spPr>
          <a:xfrm>
            <a:off x="2354580" y="5532120"/>
            <a:ext cx="171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i="1" dirty="0">
                <a:solidFill>
                  <a:srgbClr val="FAF5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Limuzin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548640" y="635508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A89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 dominante. Recomendada bajo cuatro de seis criterios.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343400" y="5303520"/>
            <a:ext cx="3611880" cy="0"/>
          </a:xfrm>
          <a:prstGeom prst="line">
            <a:avLst/>
          </a:prstGeom>
          <a:noFill/>
          <a:ln w="19050">
            <a:solidFill>
              <a:srgbClr val="E88C5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343400" y="5440680"/>
            <a:ext cx="18059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i="1" spc="-100" kern="0" dirty="0">
                <a:solidFill>
                  <a:srgbClr val="E88C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/ 6</a:t>
            </a:r>
            <a:endParaRPr lang="en-US" sz="4800" dirty="0"/>
          </a:p>
        </p:txBody>
      </p:sp>
      <p:sp>
        <p:nvSpPr>
          <p:cNvPr id="48" name="Text 46"/>
          <p:cNvSpPr/>
          <p:nvPr/>
        </p:nvSpPr>
        <p:spPr>
          <a:xfrm>
            <a:off x="6149340" y="5532120"/>
            <a:ext cx="171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i="1" dirty="0">
                <a:solidFill>
                  <a:srgbClr val="FAF5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Piedmont</a:t>
            </a:r>
            <a:endParaRPr lang="en-US" sz="2200" dirty="0"/>
          </a:p>
        </p:txBody>
      </p:sp>
      <p:sp>
        <p:nvSpPr>
          <p:cNvPr id="49" name="Text 47"/>
          <p:cNvSpPr/>
          <p:nvPr/>
        </p:nvSpPr>
        <p:spPr>
          <a:xfrm>
            <a:off x="4343400" y="635508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A89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Refugio defensivo. La opción del productor cauteloso y averso al riesgo.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8138160" y="5303520"/>
            <a:ext cx="3611880" cy="0"/>
          </a:xfrm>
          <a:prstGeom prst="line">
            <a:avLst/>
          </a:prstGeom>
          <a:noFill/>
          <a:ln w="19050">
            <a:solidFill>
              <a:srgbClr val="5C503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138160" y="5440680"/>
            <a:ext cx="18059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i="1" spc="-100" kern="0" dirty="0">
                <a:solidFill>
                  <a:srgbClr val="5C50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/ 6</a:t>
            </a:r>
            <a:endParaRPr lang="en-US" sz="4800" dirty="0"/>
          </a:p>
        </p:txBody>
      </p:sp>
      <p:sp>
        <p:nvSpPr>
          <p:cNvPr id="52" name="Text 50"/>
          <p:cNvSpPr/>
          <p:nvPr/>
        </p:nvSpPr>
        <p:spPr>
          <a:xfrm>
            <a:off x="9944100" y="5532120"/>
            <a:ext cx="171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i="1" dirty="0">
                <a:solidFill>
                  <a:srgbClr val="FAF5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Holstein</a:t>
            </a:r>
            <a:endParaRPr lang="en-US" sz="2200" dirty="0"/>
          </a:p>
        </p:txBody>
      </p:sp>
      <p:sp>
        <p:nvSpPr>
          <p:cNvPr id="53" name="Text 51"/>
          <p:cNvSpPr/>
          <p:nvPr/>
        </p:nvSpPr>
        <p:spPr>
          <a:xfrm>
            <a:off x="8138160" y="635508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A89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Descartada. Ningún criterio la recomienda — dominada por las otras razas.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A3D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— Cierre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12648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4A3D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Tres lecciones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11064240" cy="0"/>
          </a:xfrm>
          <a:prstGeom prst="line">
            <a:avLst/>
          </a:prstGeom>
          <a:noFill/>
          <a:ln w="6350">
            <a:solidFill>
              <a:srgbClr val="1A120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058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spc="-150" kern="0" dirty="0">
                <a:solidFill>
                  <a:srgbClr val="1A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 que el paper nos enseña.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4A3D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Más allá de los toros, este estudio deja tres lecciones sobre cómo tomar decisiones bajo incertidumbre en cualquier empresa.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278892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i="1" dirty="0">
                <a:solidFill>
                  <a:srgbClr val="C85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1828800" y="283464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spc="-50" kern="0" dirty="0">
                <a:solidFill>
                  <a:srgbClr val="1A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existe "una respuesta correcta", existe la respuesta consistente.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828800" y="33375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3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mejor raza depende del perfil de riesgo del decisor. Un productor optimista que elige Piedmont está dejando dinero sobre la mesa; uno averso al riesgo que elige Limuzin se sobreexpone.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40690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i="1" dirty="0">
                <a:solidFill>
                  <a:srgbClr val="C85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6400" dirty="0"/>
          </a:p>
        </p:txBody>
      </p:sp>
      <p:sp>
        <p:nvSpPr>
          <p:cNvPr id="11" name="Text 9"/>
          <p:cNvSpPr/>
          <p:nvPr/>
        </p:nvSpPr>
        <p:spPr>
          <a:xfrm>
            <a:off x="1828800" y="411480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spc="-50" kern="0" dirty="0">
                <a:solidFill>
                  <a:srgbClr val="1A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convergencia de criterios fortalece la decisión.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828800" y="461772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3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criterios filosóficamente distintos coinciden en Limuzin. Esa convergencia es evidencia de que Limuzin es una decisión robusta, válida bajo casi cualquier lente de análisis.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53492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i="1" dirty="0">
                <a:solidFill>
                  <a:srgbClr val="C85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6400" dirty="0"/>
          </a:p>
        </p:txBody>
      </p:sp>
      <p:sp>
        <p:nvSpPr>
          <p:cNvPr id="14" name="Text 12"/>
          <p:cNvSpPr/>
          <p:nvPr/>
        </p:nvSpPr>
        <p:spPr>
          <a:xfrm>
            <a:off x="1828800" y="539496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spc="-50" kern="0" dirty="0">
                <a:solidFill>
                  <a:srgbClr val="1A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teoría de decisión es una herramienta de política pública.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828800" y="589788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3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paper cierra recomendando al gobierno turco estabilizar los precios. Si la incertidumbre se reduce, menos productores recurren a criterios cautelosos y la economía agrícola se vuelve más eficiente.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2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274320"/>
            <a:ext cx="36576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38000" i="1" dirty="0">
                <a:solidFill>
                  <a:srgbClr val="C8512B">
                    <a:alpha val="1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α</a:t>
            </a:r>
            <a:endParaRPr lang="en-US" sz="380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4A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 DE LA PRESENTACIÓN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72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0" i="1" spc="-500" kern="0" dirty="0">
                <a:solidFill>
                  <a:srgbClr val="FAF5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Gracias.</a:t>
            </a:r>
            <a:endParaRPr lang="en-US" sz="18000" dirty="0"/>
          </a:p>
        </p:txBody>
      </p:sp>
      <p:sp>
        <p:nvSpPr>
          <p:cNvPr id="5" name="Text 3"/>
          <p:cNvSpPr/>
          <p:nvPr/>
        </p:nvSpPr>
        <p:spPr>
          <a:xfrm>
            <a:off x="640080" y="3840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0B4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¿Preguntas, comentarios o dudas sobre alguno de los criterios?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5120640"/>
            <a:ext cx="10881360" cy="0"/>
          </a:xfrm>
          <a:prstGeom prst="line">
            <a:avLst/>
          </a:prstGeom>
          <a:noFill/>
          <a:ln w="6350">
            <a:solidFill>
              <a:srgbClr val="D4A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5349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4A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SUSTENTADO POR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56235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AF5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Sebastián Guerrero Arias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029200" y="5349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4A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REFERENCIA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0" y="56235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AF5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Şahin, A., Miran, B., Yıldırım, İ., Önenç, A. (2008).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0" y="59436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9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 Animal &amp; Veterinary Advances, 7(10): 1305-1309.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Teoría de Decisión Aplicada — Şahin et al. 2008</dc:title>
  <dc:subject>PptxGenJS Presentation</dc:subject>
  <dc:creator>Sebastián Guerrero Arias</dc:creator>
  <cp:lastModifiedBy>Sebastián Guerrero Arias</cp:lastModifiedBy>
  <cp:revision>1</cp:revision>
  <dcterms:created xsi:type="dcterms:W3CDTF">2026-05-20T01:35:15Z</dcterms:created>
  <dcterms:modified xsi:type="dcterms:W3CDTF">2026-05-20T01:35:15Z</dcterms:modified>
</cp:coreProperties>
</file>